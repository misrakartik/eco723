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24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Volatility Ranking (Std. Dev. of Inflation)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Std. Dev.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CPI</c:v>
                  </c:pt>
                  <c:pt idx="1">
                    <c:v>Core-CPI</c:v>
                  </c:pt>
                  <c:pt idx="2">
                    <c:v>PCE</c:v>
                  </c:pt>
                  <c:pt idx="3">
                    <c:v>Core-PCE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3.08</c:v>
                </c:pt>
                <c:pt idx="1">
                  <c:v>2.43</c:v>
                </c:pt>
                <c:pt idx="2">
                  <c:v>6.1</c:v>
                </c:pt>
                <c:pt idx="3">
                  <c:v>1.51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CPI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</c:v>
                </c:pt>
              </c:strCache>
            </c:strRef>
          </c:tx>
          <c:spPr>
            <a:solidFill>
              <a:srgbClr val="8FA0C9"/>
            </a:solidFill>
            <a:ln w="28575" cap="flat">
              <a:solidFill>
                <a:srgbClr val="8FA0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FA0C9"/>
              </a:solidFill>
              <a:ln w="9525" cap="flat">
                <a:solidFill>
                  <a:srgbClr val="8FA0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0.86</c:v>
                </c:pt>
                <c:pt idx="2">
                  <c:v>1.58</c:v>
                </c:pt>
                <c:pt idx="3">
                  <c:v>2.87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Naïve</c:v>
                </c:pt>
              </c:strCache>
            </c:strRef>
          </c:tx>
          <c:spPr>
            <a:solidFill>
              <a:srgbClr val="C9A227"/>
            </a:solidFill>
            <a:ln w="28575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1.16</c:v>
                </c:pt>
                <c:pt idx="1">
                  <c:v>1.17</c:v>
                </c:pt>
                <c:pt idx="2">
                  <c:v>1.89</c:v>
                </c:pt>
                <c:pt idx="3">
                  <c:v>3.17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VAR</c:v>
                </c:pt>
              </c:strCache>
            </c:strRef>
          </c:tx>
          <c:spPr>
            <a:solidFill>
              <a:srgbClr val="5B6B8C"/>
            </a:solidFill>
            <a:ln w="28575" cap="flat">
              <a:solidFill>
                <a:srgbClr val="5B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0.81</c:v>
                </c:pt>
                <c:pt idx="1">
                  <c:v>0.75</c:v>
                </c:pt>
                <c:pt idx="2">
                  <c:v>1.49</c:v>
                </c:pt>
                <c:pt idx="3">
                  <c:v>2.81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ARDL</c:v>
                </c:pt>
              </c:strCache>
            </c:strRef>
          </c:tx>
          <c:spPr>
            <a:solidFill>
              <a:srgbClr val="1E2761"/>
            </a:solidFill>
            <a:ln w="28575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0.69</c:v>
                </c:pt>
                <c:pt idx="1">
                  <c:v>0.95</c:v>
                </c:pt>
                <c:pt idx="2">
                  <c:v>1.66</c:v>
                </c:pt>
                <c:pt idx="3">
                  <c:v>3.05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k-NN</c:v>
                </c:pt>
              </c:strCache>
            </c:strRef>
          </c:tx>
          <c:spPr>
            <a:solidFill>
              <a:srgbClr val="3D8FB5"/>
            </a:solidFill>
            <a:ln w="28575" cap="flat">
              <a:solidFill>
                <a:srgbClr val="3D8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D8FB5"/>
              </a:solidFill>
              <a:ln w="9525" cap="flat">
                <a:solidFill>
                  <a:srgbClr val="3D8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0.96</c:v>
                </c:pt>
                <c:pt idx="1">
                  <c:v>0.77</c:v>
                </c:pt>
                <c:pt idx="2">
                  <c:v>1.97</c:v>
                </c:pt>
                <c:pt idx="3">
                  <c:v>2.97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SVR</c:v>
                </c:pt>
              </c:strCache>
            </c:strRef>
          </c:tx>
          <c:spPr>
            <a:solidFill>
              <a:srgbClr val="B3413A"/>
            </a:solidFill>
            <a:ln w="28575" cap="flat">
              <a:solidFill>
                <a:srgbClr val="B34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3413A"/>
              </a:solidFill>
              <a:ln w="9525" cap="flat">
                <a:solidFill>
                  <a:srgbClr val="B34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0.96</c:v>
                </c:pt>
                <c:pt idx="1">
                  <c:v>1.02</c:v>
                </c:pt>
                <c:pt idx="2">
                  <c:v>1.66</c:v>
                </c:pt>
                <c:pt idx="3">
                  <c:v>2.92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ANN</c:v>
                </c:pt>
              </c:strCache>
            </c:strRef>
          </c:tx>
          <c:spPr>
            <a:solidFill>
              <a:srgbClr val="1E8E5A"/>
            </a:solidFill>
            <a:ln w="28575" cap="flat">
              <a:solidFill>
                <a:srgbClr val="1E8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0.79</c:v>
                </c:pt>
                <c:pt idx="1">
                  <c:v>0.87</c:v>
                </c:pt>
                <c:pt idx="2">
                  <c:v>1.56</c:v>
                </c:pt>
                <c:pt idx="3">
                  <c:v>2.83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13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1B21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Core-CPI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</c:v>
                </c:pt>
              </c:strCache>
            </c:strRef>
          </c:tx>
          <c:spPr>
            <a:solidFill>
              <a:srgbClr val="8FA0C9"/>
            </a:solidFill>
            <a:ln w="28575" cap="flat">
              <a:solidFill>
                <a:srgbClr val="8FA0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FA0C9"/>
              </a:solidFill>
              <a:ln w="9525" cap="flat">
                <a:solidFill>
                  <a:srgbClr val="8FA0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1.16</c:v>
                </c:pt>
                <c:pt idx="2">
                  <c:v>1.13</c:v>
                </c:pt>
                <c:pt idx="3">
                  <c:v>1.13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Naïve</c:v>
                </c:pt>
              </c:strCache>
            </c:strRef>
          </c:tx>
          <c:spPr>
            <a:solidFill>
              <a:srgbClr val="C9A227"/>
            </a:solidFill>
            <a:ln w="28575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4.55</c:v>
                </c:pt>
                <c:pt idx="1">
                  <c:v>4.06</c:v>
                </c:pt>
                <c:pt idx="2">
                  <c:v>3.68</c:v>
                </c:pt>
                <c:pt idx="3">
                  <c:v>3.42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VAR</c:v>
                </c:pt>
              </c:strCache>
            </c:strRef>
          </c:tx>
          <c:spPr>
            <a:solidFill>
              <a:srgbClr val="5B6B8C"/>
            </a:solidFill>
            <a:ln w="28575" cap="flat">
              <a:solidFill>
                <a:srgbClr val="5B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1.37</c:v>
                </c:pt>
                <c:pt idx="1">
                  <c:v>1.27</c:v>
                </c:pt>
                <c:pt idx="2">
                  <c:v>1.47</c:v>
                </c:pt>
                <c:pt idx="3">
                  <c:v>2.08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ARDL</c:v>
                </c:pt>
              </c:strCache>
            </c:strRef>
          </c:tx>
          <c:spPr>
            <a:solidFill>
              <a:srgbClr val="1E2761"/>
            </a:solidFill>
            <a:ln w="28575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0.96</c:v>
                </c:pt>
                <c:pt idx="1">
                  <c:v>1.04</c:v>
                </c:pt>
                <c:pt idx="2">
                  <c:v>1.2</c:v>
                </c:pt>
                <c:pt idx="3">
                  <c:v>1.58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k-NN</c:v>
                </c:pt>
              </c:strCache>
            </c:strRef>
          </c:tx>
          <c:spPr>
            <a:solidFill>
              <a:srgbClr val="3D8FB5"/>
            </a:solidFill>
            <a:ln w="28575" cap="flat">
              <a:solidFill>
                <a:srgbClr val="3D8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D8FB5"/>
              </a:solidFill>
              <a:ln w="9525" cap="flat">
                <a:solidFill>
                  <a:srgbClr val="3D8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1.25</c:v>
                </c:pt>
                <c:pt idx="1">
                  <c:v>1.55</c:v>
                </c:pt>
                <c:pt idx="2">
                  <c:v>1.64</c:v>
                </c:pt>
                <c:pt idx="3">
                  <c:v>1.95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SVR</c:v>
                </c:pt>
              </c:strCache>
            </c:strRef>
          </c:tx>
          <c:spPr>
            <a:solidFill>
              <a:srgbClr val="B3413A"/>
            </a:solidFill>
            <a:ln w="28575" cap="flat">
              <a:solidFill>
                <a:srgbClr val="B34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3413A"/>
              </a:solidFill>
              <a:ln w="9525" cap="flat">
                <a:solidFill>
                  <a:srgbClr val="B34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1.46</c:v>
                </c:pt>
                <c:pt idx="1">
                  <c:v>1.35</c:v>
                </c:pt>
                <c:pt idx="2">
                  <c:v>1.46</c:v>
                </c:pt>
                <c:pt idx="3">
                  <c:v>2.03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ANN</c:v>
                </c:pt>
              </c:strCache>
            </c:strRef>
          </c:tx>
          <c:spPr>
            <a:solidFill>
              <a:srgbClr val="1E8E5A"/>
            </a:solidFill>
            <a:ln w="28575" cap="flat">
              <a:solidFill>
                <a:srgbClr val="1E8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1.6</c:v>
                </c:pt>
                <c:pt idx="1">
                  <c:v>1.45</c:v>
                </c:pt>
                <c:pt idx="2">
                  <c:v>1.48</c:v>
                </c:pt>
                <c:pt idx="3">
                  <c:v>1.95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13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1B21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PCE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</c:v>
                </c:pt>
              </c:strCache>
            </c:strRef>
          </c:tx>
          <c:spPr>
            <a:solidFill>
              <a:srgbClr val="8FA0C9"/>
            </a:solidFill>
            <a:ln w="28575" cap="flat">
              <a:solidFill>
                <a:srgbClr val="8FA0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FA0C9"/>
              </a:solidFill>
              <a:ln w="9525" cap="flat">
                <a:solidFill>
                  <a:srgbClr val="8FA0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4.64</c:v>
                </c:pt>
                <c:pt idx="1">
                  <c:v>3.33</c:v>
                </c:pt>
                <c:pt idx="2">
                  <c:v>3.25</c:v>
                </c:pt>
                <c:pt idx="3">
                  <c:v>3.25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Naïve</c:v>
                </c:pt>
              </c:strCache>
            </c:strRef>
          </c:tx>
          <c:spPr>
            <a:solidFill>
              <a:srgbClr val="C9A227"/>
            </a:solidFill>
            <a:ln w="28575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4.51</c:v>
                </c:pt>
                <c:pt idx="1">
                  <c:v>3.4</c:v>
                </c:pt>
                <c:pt idx="2">
                  <c:v>3.32</c:v>
                </c:pt>
                <c:pt idx="3">
                  <c:v>3.19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VAR</c:v>
                </c:pt>
              </c:strCache>
            </c:strRef>
          </c:tx>
          <c:spPr>
            <a:solidFill>
              <a:srgbClr val="5B6B8C"/>
            </a:solidFill>
            <a:ln w="28575" cap="flat">
              <a:solidFill>
                <a:srgbClr val="5B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4.76</c:v>
                </c:pt>
                <c:pt idx="1">
                  <c:v>3.4</c:v>
                </c:pt>
                <c:pt idx="2">
                  <c:v>3.3</c:v>
                </c:pt>
                <c:pt idx="3">
                  <c:v>3.29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ARDL</c:v>
                </c:pt>
              </c:strCache>
            </c:strRef>
          </c:tx>
          <c:spPr>
            <a:solidFill>
              <a:srgbClr val="1E2761"/>
            </a:solidFill>
            <a:ln w="28575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2.93</c:v>
                </c:pt>
                <c:pt idx="1">
                  <c:v>2.22</c:v>
                </c:pt>
                <c:pt idx="2">
                  <c:v>2.13</c:v>
                </c:pt>
                <c:pt idx="3">
                  <c:v>2.61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k-NN</c:v>
                </c:pt>
              </c:strCache>
            </c:strRef>
          </c:tx>
          <c:spPr>
            <a:solidFill>
              <a:srgbClr val="3D8FB5"/>
            </a:solidFill>
            <a:ln w="28575" cap="flat">
              <a:solidFill>
                <a:srgbClr val="3D8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D8FB5"/>
              </a:solidFill>
              <a:ln w="9525" cap="flat">
                <a:solidFill>
                  <a:srgbClr val="3D8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2.36</c:v>
                </c:pt>
                <c:pt idx="1">
                  <c:v>1.92</c:v>
                </c:pt>
                <c:pt idx="2">
                  <c:v>1.82</c:v>
                </c:pt>
                <c:pt idx="3">
                  <c:v>2.22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SVR</c:v>
                </c:pt>
              </c:strCache>
            </c:strRef>
          </c:tx>
          <c:spPr>
            <a:solidFill>
              <a:srgbClr val="B3413A"/>
            </a:solidFill>
            <a:ln w="28575" cap="flat">
              <a:solidFill>
                <a:srgbClr val="B34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3413A"/>
              </a:solidFill>
              <a:ln w="9525" cap="flat">
                <a:solidFill>
                  <a:srgbClr val="B34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2.96</c:v>
                </c:pt>
                <c:pt idx="1">
                  <c:v>2.32</c:v>
                </c:pt>
                <c:pt idx="2">
                  <c:v>2.22</c:v>
                </c:pt>
                <c:pt idx="3">
                  <c:v>2.67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ANN</c:v>
                </c:pt>
              </c:strCache>
            </c:strRef>
          </c:tx>
          <c:spPr>
            <a:solidFill>
              <a:srgbClr val="1E8E5A"/>
            </a:solidFill>
            <a:ln w="28575" cap="flat">
              <a:solidFill>
                <a:srgbClr val="1E8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2.76</c:v>
                </c:pt>
                <c:pt idx="1">
                  <c:v>2.14</c:v>
                </c:pt>
                <c:pt idx="2">
                  <c:v>2.09</c:v>
                </c:pt>
                <c:pt idx="3">
                  <c:v>2.6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13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1B21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Core-PCE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</c:v>
                </c:pt>
              </c:strCache>
            </c:strRef>
          </c:tx>
          <c:spPr>
            <a:solidFill>
              <a:srgbClr val="8FA0C9"/>
            </a:solidFill>
            <a:ln w="28575" cap="flat">
              <a:solidFill>
                <a:srgbClr val="8FA0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FA0C9"/>
              </a:solidFill>
              <a:ln w="9525" cap="flat">
                <a:solidFill>
                  <a:srgbClr val="8FA0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</c:v>
                </c:pt>
                <c:pt idx="1">
                  <c:v>0.65</c:v>
                </c:pt>
                <c:pt idx="2">
                  <c:v>0.75</c:v>
                </c:pt>
                <c:pt idx="3">
                  <c:v>0.84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Naïve</c:v>
                </c:pt>
              </c:strCache>
            </c:strRef>
          </c:tx>
          <c:spPr>
            <a:solidFill>
              <a:srgbClr val="C9A227"/>
            </a:solidFill>
            <a:ln w="28575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0.57</c:v>
                </c:pt>
                <c:pt idx="2">
                  <c:v>0.61</c:v>
                </c:pt>
                <c:pt idx="3">
                  <c:v>0.55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VAR</c:v>
                </c:pt>
              </c:strCache>
            </c:strRef>
          </c:tx>
          <c:spPr>
            <a:solidFill>
              <a:srgbClr val="5B6B8C"/>
            </a:solidFill>
            <a:ln w="28575" cap="flat">
              <a:solidFill>
                <a:srgbClr val="5B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B6B8C"/>
              </a:solidFill>
              <a:ln w="9525" cap="flat">
                <a:solidFill>
                  <a:srgbClr val="5B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1.18</c:v>
                </c:pt>
                <c:pt idx="1">
                  <c:v>0.94</c:v>
                </c:pt>
                <c:pt idx="2">
                  <c:v>1.01</c:v>
                </c:pt>
                <c:pt idx="3">
                  <c:v>1.1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ARDL</c:v>
                </c:pt>
              </c:strCache>
            </c:strRef>
          </c:tx>
          <c:spPr>
            <a:solidFill>
              <a:srgbClr val="1E2761"/>
            </a:solidFill>
            <a:ln w="28575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0.74</c:v>
                </c:pt>
                <c:pt idx="1">
                  <c:v>0.56</c:v>
                </c:pt>
                <c:pt idx="2">
                  <c:v>0.67</c:v>
                </c:pt>
                <c:pt idx="3">
                  <c:v>0.75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k-NN</c:v>
                </c:pt>
              </c:strCache>
            </c:strRef>
          </c:tx>
          <c:spPr>
            <a:solidFill>
              <a:srgbClr val="3D8FB5"/>
            </a:solidFill>
            <a:ln w="28575" cap="flat">
              <a:solidFill>
                <a:srgbClr val="3D8F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3D8FB5"/>
              </a:solidFill>
              <a:ln w="9525" cap="flat">
                <a:solidFill>
                  <a:srgbClr val="3D8F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1.63</c:v>
                </c:pt>
                <c:pt idx="1">
                  <c:v>1.21</c:v>
                </c:pt>
                <c:pt idx="2">
                  <c:v>1.05</c:v>
                </c:pt>
                <c:pt idx="3">
                  <c:v>0.93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SVR</c:v>
                </c:pt>
              </c:strCache>
            </c:strRef>
          </c:tx>
          <c:spPr>
            <a:solidFill>
              <a:srgbClr val="B3413A"/>
            </a:solidFill>
            <a:ln w="28575" cap="flat">
              <a:solidFill>
                <a:srgbClr val="B341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3413A"/>
              </a:solidFill>
              <a:ln w="9525" cap="flat">
                <a:solidFill>
                  <a:srgbClr val="B341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0.8</c:v>
                </c:pt>
                <c:pt idx="1">
                  <c:v>0.67</c:v>
                </c:pt>
                <c:pt idx="2">
                  <c:v>0.79</c:v>
                </c:pt>
                <c:pt idx="3">
                  <c:v>0.89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ANN</c:v>
                </c:pt>
              </c:strCache>
            </c:strRef>
          </c:tx>
          <c:spPr>
            <a:solidFill>
              <a:srgbClr val="1E8E5A"/>
            </a:solidFill>
            <a:ln w="28575" cap="flat">
              <a:solidFill>
                <a:srgbClr val="1E8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8E5A"/>
              </a:solidFill>
              <a:ln w="9525" cap="flat">
                <a:solidFill>
                  <a:srgbClr val="1E8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h3</c:v>
                  </c:pt>
                  <c:pt idx="1">
                    <c:v>h6</c:v>
                  </c:pt>
                  <c:pt idx="2">
                    <c:v>h9</c:v>
                  </c:pt>
                  <c:pt idx="3">
                    <c:v>h12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0.82</c:v>
                </c:pt>
                <c:pt idx="1">
                  <c:v>0.79</c:v>
                </c:pt>
                <c:pt idx="2">
                  <c:v>0.87</c:v>
                </c:pt>
                <c:pt idx="3">
                  <c:v>0.94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13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
              <a:solidFill>
                <a:srgbClr val="1B21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263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EMPIRICAL REPLICATION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vs. Machine Learning Models for Inflation Forecasting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replication of </a:t>
            </a:r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Ülke, Sahin &amp; Subasi (2018)</a:t>
            </a:r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“A comparison of time series and machine learning models for inflation forecasting: empirical evidence from the USA,” Neural Computing and Applications, 30:1519–1527.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Misra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57790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group members / roll numbers here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41B4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731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 replication of Ülke et al. (2018) on US monthly inflation, 1984–2014.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905256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97680" y="90525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380744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138074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344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1856232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1856232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8196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2331720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97680" y="233172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2951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807208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97680" y="280720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770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97680" y="3282696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97680" y="328269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0" y="905256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0" y="90525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868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0" y="1380744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0" y="138074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1344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0" y="1856232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0" y="1856232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0" y="18196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29600" y="2331720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0" y="233172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22951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229600" y="2807208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229600" y="280720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0" y="27706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229600" y="3282696"/>
            <a:ext cx="310896" cy="310896"/>
          </a:xfrm>
          <a:prstGeom prst="ellipse">
            <a:avLst/>
          </a:prstGeom>
          <a:solidFill>
            <a:srgbClr val="EEF3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229600" y="328269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3246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Inflation Forecasting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— the rate of change in the aggregate price level — is a central input to household, investor, and policy decisions. Persistently high inflation erodes real wages and raises the cost of capital; persistently low inflation signals weak aggregate demand. Forecasting it accurately, across horizons, is therefore a recurring problem in both monetary policy and quantitative finance.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replicates Ülke, Sahin &amp; Subasi (2018), which pits two classical univariate models, two multivariate time-series models, and three machine learning models against each other on four US inflation measures over 1984–2014.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4206240" cy="914400"/>
          </a:xfrm>
          <a:prstGeom prst="rect">
            <a:avLst>
              <a:gd name="adj" fmla="val 7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35240" y="1783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352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All-items consumer prices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06640" y="2770632"/>
            <a:ext cx="4206240" cy="914400"/>
          </a:xfrm>
          <a:prstGeom prst="rect">
            <a:avLst>
              <a:gd name="adj" fmla="val 7000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28620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Core-CPI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35240" y="3273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food &amp; energy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3849624"/>
            <a:ext cx="4206240" cy="914400"/>
          </a:xfrm>
          <a:prstGeom prst="rect">
            <a:avLst>
              <a:gd name="adj" fmla="val 7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35240" y="39410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35240" y="4352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consumption deflator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4928616"/>
            <a:ext cx="4206240" cy="914400"/>
          </a:xfrm>
          <a:prstGeom prst="rect">
            <a:avLst>
              <a:gd name="adj" fmla="val 7000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635240" y="50200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Core-PCE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35240" y="54315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Fed's preferred gauge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Replicate This Study?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108960"/>
          </a:xfrm>
          <a:prstGeom prst="rect">
            <a:avLst>
              <a:gd name="adj" fmla="val 235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5" name="Image 0" descr="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in macro is still rare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97180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 common in microstructure and credit risk, but rarely benchmarked against classical time-series tools for headline macro variables like inflation.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34840" y="1828800"/>
            <a:ext cx="3611880" cy="3108960"/>
          </a:xfrm>
          <a:prstGeom prst="rect">
            <a:avLst>
              <a:gd name="adj" fmla="val 235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s/balanc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controlled horse race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63440" y="297180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offers a transparent 7-model × 4-series × 4-horizon design — ideal for testing reproducibility and learning where each model family wins or fails.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321040" y="1828800"/>
            <a:ext cx="3611880" cy="3108960"/>
          </a:xfrm>
          <a:prstGeom prst="rect">
            <a:avLst>
              <a:gd name="adj" fmla="val 235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3" name="Image 2" descr="icons/calc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4964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relevance to quant work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549640" y="2971800"/>
            <a:ext cx="31546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volatility and regime shifts in macro series feeds directly into trading and risk models — the same toolkit (AR, k-NN, SVR, ANN) used here recurs across quant finance.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Replication Sets Out To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1907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four US inflation series (CPI, Core-CPI, PCE, Core-PCE) and six predictor variables from FRED, matching the paper's 1984–2014 sample.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798064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 all seven forecasting models — AR, Naïve, VAR, ARDL, k-NN, SVR, and ANN — using the same lag structures and hyperparameter choices reported in the paper.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877056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pseudo out-of-sample forecasting design: train on Jan 1984–Dec 2013, forecast into 2014 at 3, 6, 9, and 12-month horizons.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5020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95604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RMSE results against the original paper's Table 3, and assess whether its central claim — ML wins for volatile series, time-series wins for smooth series — holds up.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LITERATURE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Study Sits in the Literature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ect">
            <a:avLst>
              <a:gd name="adj" fmla="val 1702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Lineage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350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Phillips Curve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Watson: multivariate structural models beat univariate forecasts.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218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/ random walk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493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Atkeson &amp; Ohanian champion the no-economics random-walk benchmark.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4087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Watson (2007)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3616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forecasts haven't reliably beaten univariate benchmarks since 1985.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50749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4956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Manzan &amp; Zerom (2013)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5230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precursor — uses macro indicators to forecast the U.S. inflation distribution post-1984.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5394960" cy="4297680"/>
          </a:xfrm>
          <a:prstGeom prst="rect">
            <a:avLst>
              <a:gd name="adj" fmla="val 170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Lineage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24688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66560" y="2350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forecasting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6243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Mizrach; Guegan &amp; Rakotomarolahy apply k-NN to exchange rates and GDP.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333756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0" y="3218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SVR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3493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use SVM for volatility; Ye et al. show SVR beats OLS for Chinese inflation.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420624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66560" y="4087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applications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43616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et al. forecast Phillips-curve inflation across countries using ANN.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507492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66560" y="4956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paper's gap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52303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remain rarely used specifically for U.S. inflation — the motivation for this comparison.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297680"/>
          </a:xfrm>
          <a:prstGeom prst="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5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Bank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St. Louis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1984 – Dec 2014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4178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period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4910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5257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1984–2013 / 2014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77240" y="5641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737360"/>
          <a:ext cx="7406640" cy="4297680"/>
        </p:xfrm>
        <a:graphic>
          <a:graphicData uri="http://schemas.openxmlformats.org/drawingml/2006/table">
            <a:tbl>
              <a:tblPr/>
              <a:tblGrid>
                <a:gridCol w="1188720"/>
                <a:gridCol w="4297680"/>
                <a:gridCol w="19202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FRED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All-items consumer price index, 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CPIAUCSL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excl. food &amp; 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USACPICORMINMEI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consumption expenditure deflator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Core-PCE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 excl. food &amp; 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DPCERL1M225NBEA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Civilian unemployment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production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employees, total nonfarm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starts (total)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personal consumption exp., % chg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DPCERL1M225NBEA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5-yr Treasury minus 3-month T-bill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GS5, TB3MS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Models, One Forecasting Race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= 1200 × [log Pₜ − log Pₜ₋₁]  —  one-month inflation, computed from each price index Pₜ. Forecasts are evaluated by RMSE over 3, 6, 9, and 12-month pseudo out-of-sample horizons in 2014.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70048" cy="1965960"/>
          </a:xfrm>
          <a:prstGeom prst="rect">
            <a:avLst>
              <a:gd name="adj" fmla="val 325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0848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· TIME SERIES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= c + Σ βi Yt−i + εt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by BIC: CPI(2), Core-CPI(12), PCE(1), Core-PCE(5).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965960"/>
            <a:ext cx="2670048" cy="1965960"/>
          </a:xfrm>
          <a:prstGeom prst="rect">
            <a:avLst>
              <a:gd name="adj" fmla="val 325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47872" y="20848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42316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· TIME SERIES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7872" y="2715768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 = α Yt−1 + εt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Random-walk benchmark; assumes today's value is the best forecast.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670048" cy="1965960"/>
          </a:xfrm>
          <a:prstGeom prst="rect">
            <a:avLst>
              <a:gd name="adj" fmla="val 32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64224" y="20848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42316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· TIME SERIES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64224" y="2715768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 = c + Σ Ak Zt−k + εt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= 1 (Schwarz criterion); endogenous block of inflation + 6 predictors.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97696" y="1965960"/>
            <a:ext cx="2670048" cy="1965960"/>
          </a:xfrm>
          <a:prstGeom prst="rect">
            <a:avLst>
              <a:gd name="adj" fmla="val 32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80576" y="208483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0576" y="242316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· TIME SERIES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80576" y="2715768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INFt on its own lags + lagged UNEM, IP, WORK, HS, INC, SPREAD.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chosen by bounds test / min. Schwarz.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56816" y="4160520"/>
            <a:ext cx="2670048" cy="1965960"/>
          </a:xfrm>
          <a:prstGeom prst="rect">
            <a:avLst>
              <a:gd name="adj" fmla="val 325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139696" y="42793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39696" y="461772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4910328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Memory-based regression on k nearest neighbours in feature space.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= 3 (paper); reused here.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73168" y="4160520"/>
            <a:ext cx="2670048" cy="1965960"/>
          </a:xfrm>
          <a:prstGeom prst="rect">
            <a:avLst>
              <a:gd name="adj" fmla="val 325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56048" y="42793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56048" y="461772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56048" y="4910328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Regression with RBF kernel.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(C, γ, ε) tuned via TimeSeriesSplit grid search.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4160520"/>
            <a:ext cx="2670048" cy="1965960"/>
          </a:xfrm>
          <a:prstGeom prst="rect">
            <a:avLst>
              <a:gd name="adj" fmla="val 325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772400" y="4279392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0" y="461772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72400" y="4910328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hidden layer, 3 neurons (paper spec).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/ momentum / activation tuned via CV.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&amp; Volatility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309360" cy="219456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777240"/>
                <a:gridCol w="731520"/>
                <a:gridCol w="777240"/>
                <a:gridCol w="914400"/>
                <a:gridCol w="640080"/>
                <a:gridCol w="868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Core-CPI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-24.92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Core-PCE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moments line up closely with the paper for CPI, Core-CPI and PCE. Core-CPI shows the lowest volatility (std. 2.43) and CPI the most negative skew — consistent with the 2008–09 deflation shock.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178040" y="1600200"/>
          <a:ext cx="4480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7178040" y="44348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is the most volatile series; Core-PCE the least — the opposite ordering from the original paper, where Core-PCE had the highest volatility (std. 6.57).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MODEL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From Raw Series to Forecast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707329" cy="685800"/>
          </a:xfrm>
          <a:prstGeom prst="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255969" y="1783080"/>
            <a:ext cx="356911" cy="685800"/>
          </a:xfrm>
          <a:prstGeom prst="rect">
            <a:avLst>
              <a:gd name="adj" fmla="val 15372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83080"/>
            <a:ext cx="1034156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Jan 1984 to Dec 2013  (360 monthly observations)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53049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670048" cy="2834640"/>
          </a:xfrm>
          <a:prstGeom prst="rect">
            <a:avLst>
              <a:gd name="adj" fmla="val 274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9" name="Image 0" descr="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8152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359359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Source &amp; Transform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808" y="397764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CPI, Core-CPI, PCE, Core-PCE and 6 predictors from FRED. Compute Yt = 1200×Δlog(Pt). Apply HP-filter gaps to nonstationary predictors.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64992" y="2880360"/>
            <a:ext cx="2670048" cy="2834640"/>
          </a:xfrm>
          <a:prstGeom prst="rect">
            <a:avLst>
              <a:gd name="adj" fmla="val 274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3" name="Image 1" descr="icons/tab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815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59359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Split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397764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1984–2013 (360 obs). Test: all 12 months of 2014, used to build pseudo out-of-sample forecasts at h = 3, 6, 9, 12.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2880360"/>
            <a:ext cx="2670048" cy="2834640"/>
          </a:xfrm>
          <a:prstGeom prst="rect">
            <a:avLst>
              <a:gd name="adj" fmla="val 274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7" name="Image 2" descr="icons/lay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308152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359359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Fit Per Model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82512" y="397764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AR/Naïve/VAR/ARDL fit directly on levels; k-NN/SVR/ANN built on a shared feature set (lag-1 target + 6 macro predictors), scaled.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97696" y="2880360"/>
            <a:ext cx="2670048" cy="2834640"/>
          </a:xfrm>
          <a:prstGeom prst="rect">
            <a:avLst>
              <a:gd name="adj" fmla="val 274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1" name="Image 3" descr="icon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308152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359359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Forecast &amp; Score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98864" y="3977640"/>
            <a:ext cx="22677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forecasts 12 steps ahead from the end of training. RMSE computed cumulatively at each horizon against actual 2014 values.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63824" y="416966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5980176" y="416966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8796528" y="416966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 · 1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 Out-of-Sample RMSE (2014)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results — compare with the paper's Table 3. Lowest RMSE per row in bold gold.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338560" cy="45720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1216152"/>
                <a:gridCol w="1216152"/>
                <a:gridCol w="1216152"/>
                <a:gridCol w="1216152"/>
                <a:gridCol w="1216152"/>
                <a:gridCol w="1216152"/>
                <a:gridCol w="1216152"/>
              </a:tblGrid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Core-PCE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200">
                <a:solidFill>
                  <a:srgbClr val="C9A227"/>
                </a:solidFill>
                <a:latin typeface="Calibri"/>
              </a:rPr>
              <a:t>09 · RESULTS ·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mbria"/>
              </a:rPr>
              <a:t>Goodness of Fit: R² at the 12-Month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5B6B8C"/>
                </a:solidFill>
                <a:latin typeface="Calibri"/>
              </a:rPr>
              <a:t>Replicated results — compare with the paper's Table 4. R² from regressing actual on forecasted values (Eq. 7–8); highest R² per column in bold gold.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33856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000"/>
                <a:gridCol w="2426640"/>
                <a:gridCol w="2426640"/>
                <a:gridCol w="2426640"/>
                <a:gridCol w="242664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CPI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Core-CPI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PCE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Core-PCE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AR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0.79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Naïve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0.86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VAR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0.86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ARDL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0.85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k-NN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0.13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0.85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ANN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0.13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B2138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0.85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</a:rPr>
                        <a:t>0.86 ★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C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46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761"/>
                </a:solidFill>
                <a:latin typeface="Calibri"/>
              </a:rPr>
              <a:t>R² tells a different story than RMSE: ANN and SVR post the strongest, most consistent fit across series (≥0.85 on PCE and Core-PCE), while every model struggles to explain headline CPI (R² ≤ 0.13) — consistent with the paper's own finding that CPI is the hardest series to fit despite low forecast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53200"/>
            <a:ext cx="60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B6B8C"/>
                </a:solidFill>
                <a:latin typeface="Calibri"/>
              </a:rPr>
              <a:t>ECO723 · Inflation Forecasting Replication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 · 3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Across Horizons, by Series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41732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457200" y="39776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6263640" y="39776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 · 4 OF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Scoreboard: Replication vs. Original Paper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ect">
            <a:avLst>
              <a:gd name="adj" fmla="val 1649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 (2014 TEST YEAR)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wins 7 / 16  ·  TS wins 9 / 16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2980944"/>
            <a:ext cx="3291840" cy="201168"/>
          </a:xfrm>
          <a:prstGeom prst="rect">
            <a:avLst/>
          </a:prstGeom>
          <a:solidFill>
            <a:srgbClr val="E3E9F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920240" y="2980944"/>
            <a:ext cx="1440180" cy="2011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85232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310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3364992"/>
            <a:ext cx="3291840" cy="201168"/>
          </a:xfrm>
          <a:prstGeom prst="rect">
            <a:avLst/>
          </a:prstGeom>
          <a:solidFill>
            <a:srgbClr val="E3E9F7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920240" y="3364992"/>
            <a:ext cx="1028700" cy="2011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85232" y="33101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6941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20240" y="3749040"/>
            <a:ext cx="3291840" cy="201168"/>
          </a:xfrm>
          <a:prstGeom prst="rect">
            <a:avLst/>
          </a:prstGeom>
          <a:solidFill>
            <a:srgbClr val="E3E9F7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920240" y="3749040"/>
            <a:ext cx="411480" cy="2011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85232" y="36941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78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20240" y="4133088"/>
            <a:ext cx="3291840" cy="201168"/>
          </a:xfrm>
          <a:prstGeom prst="rect">
            <a:avLst/>
          </a:prstGeom>
          <a:solidFill>
            <a:srgbClr val="E3E9F7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920240" y="4133088"/>
            <a:ext cx="205740" cy="2011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85232" y="40782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462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20240" y="4517136"/>
            <a:ext cx="3291840" cy="201168"/>
          </a:xfrm>
          <a:prstGeom prst="rect">
            <a:avLst/>
          </a:prstGeom>
          <a:solidFill>
            <a:srgbClr val="E3E9F7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920240" y="4517136"/>
            <a:ext cx="205740" cy="2011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285232" y="4462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5074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headline claim: SVR wins Core-PCE in all 4 horizons; ARDL wins Core-CPI in all 4 horizons. Multivariate models beat univariate in 14 / 16 conditions overall.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691640"/>
            <a:ext cx="5394960" cy="4434840"/>
          </a:xfrm>
          <a:prstGeom prst="rect">
            <a:avLst>
              <a:gd name="adj" fmla="val 164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REPLICATION (2014 TEST YEAR)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wins 4 / 16  ·  TS wins 12 / 16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3796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89520" y="2980944"/>
            <a:ext cx="3291840" cy="201168"/>
          </a:xfrm>
          <a:prstGeom prst="rect">
            <a:avLst/>
          </a:prstGeom>
          <a:solidFill>
            <a:srgbClr val="324078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589520" y="2980944"/>
            <a:ext cx="822960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954512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3101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3364992"/>
            <a:ext cx="3291840" cy="201168"/>
          </a:xfrm>
          <a:prstGeom prst="rect">
            <a:avLst/>
          </a:prstGeom>
          <a:solidFill>
            <a:srgbClr val="324078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589520" y="3364992"/>
            <a:ext cx="617220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954512" y="33101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36941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0" y="3749040"/>
            <a:ext cx="3291840" cy="201168"/>
          </a:xfrm>
          <a:prstGeom prst="rect">
            <a:avLst/>
          </a:prstGeom>
          <a:solidFill>
            <a:srgbClr val="324078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589520" y="3749040"/>
            <a:ext cx="617220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10954512" y="36941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37960" y="4078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589520" y="4133088"/>
            <a:ext cx="3291840" cy="201168"/>
          </a:xfrm>
          <a:prstGeom prst="rect">
            <a:avLst/>
          </a:prstGeom>
          <a:solidFill>
            <a:srgbClr val="324078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589520" y="4133088"/>
            <a:ext cx="617220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0954512" y="40782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37960" y="4462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89520" y="4517136"/>
            <a:ext cx="3291840" cy="201168"/>
          </a:xfrm>
          <a:prstGeom prst="rect">
            <a:avLst/>
          </a:prstGeom>
          <a:solidFill>
            <a:srgbClr val="324078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589520" y="4517136"/>
            <a:ext cx="617220" cy="20116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0954512" y="44622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37960" y="50749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replication shifts the balance toward time-series models, with VAR, AR and ARDL each taking 3 conditions and k-NN the strongest ML performer (PCE, all 4 horizons). The exact win pattern differs from the paper — expected given hyperparameter search randomness, library version differences, and lag-selection sensitivity.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48840"/>
          </a:xfrm>
          <a:prstGeom prst="rect">
            <a:avLst>
              <a:gd name="adj" fmla="val 340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5" name="Image 0" descr="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659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best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5603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the paper's own conclusion — the best model changes by series and by horizon. There is no universal winner across CPI, Core-CPI, PCE and Core-PCE.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5349240" cy="2148840"/>
          </a:xfrm>
          <a:prstGeom prst="rect">
            <a:avLst>
              <a:gd name="adj" fmla="val 340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s/balanc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8424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9659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models held up well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55080" y="256032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replication, AR, VAR and ARDL collectively account for 9 of 16 best results — time-series approaches remain very competitive against ML, especially at short horizons.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349240" cy="2148840"/>
          </a:xfrm>
          <a:prstGeom prst="rect">
            <a:avLst>
              <a:gd name="adj" fmla="val 340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3" name="Image 2" descr="icons/robo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6168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343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k-NN was our strongest ML model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77240" y="49377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dominated PCE forecasting at every horizon — echoing the paper's finding that simple, memory-based ML methods can outperform parametric alternatives on noisier series.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126480" y="4160520"/>
            <a:ext cx="5349240" cy="2148840"/>
          </a:xfrm>
          <a:prstGeom prst="rect">
            <a:avLst>
              <a:gd name="adj" fmla="val 340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7" name="Image 3" descr="icons/warn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36168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4343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rankings don't replicate 1:1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55080" y="49377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model-by-model win counts differ from the original Table 3. This is consistent with known reproducibility challenges in ML-based macro forecasting (hyperparameter search, randomness, library versions).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 on This Replication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ect">
            <a:avLst>
              <a:gd name="adj" fmla="val 6250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83794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test year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0" y="1837944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performance is judged on just 12 months (2014). One unusual year can swing RMSE rankings; the paper itself shows results are not stable across horizons.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67919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sensitivity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267919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SVR, ANN and k-NN results depend on the grid search space and CV scheme used — small differences here can change which model 'wins' a given cell.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1064240" cy="731520"/>
          </a:xfrm>
          <a:prstGeom prst="rect">
            <a:avLst>
              <a:gd name="adj" fmla="val 6250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5204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FRED series vintage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revises historical series over time; pulling data today does not guarantee bit-for-bit alignment with the vintage the original authors used in 2014–16.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106424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36168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Lag-selection differences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4361688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ARDL and VAR lag orders are chosen algorithmically (BIC / bounds test) rather than hand-tuned, which can produce different specifications than the original paper's.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1064240" cy="731520"/>
          </a:xfrm>
          <a:prstGeom prst="rect">
            <a:avLst>
              <a:gd name="adj" fmla="val 6250"/>
            </a:avLst>
          </a:prstGeom>
          <a:solidFill>
            <a:srgbClr val="EEF3F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20293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significance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0" y="5202936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original study, comparisons rest on point RMSE values without formal tests (e.g. Diebold-Mariano) for whether differences across models are significant.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Code, Data &amp; Tools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657600"/>
          </a:xfrm>
          <a:prstGeom prst="rect">
            <a:avLst>
              <a:gd name="adj" fmla="val 202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5" name="Image 0" descr="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— Federal Reserve Bank of St. Louis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Series: CPIAUCSL, USACPICORMINMEI, PCE,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DPCERL1M225NBEA, UNRATE, INDPRO,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PAYEMS, HOUST, GS5, TB3MS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34840" y="1828800"/>
            <a:ext cx="3611880" cy="3657600"/>
          </a:xfrm>
          <a:prstGeom prst="rect">
            <a:avLst>
              <a:gd name="adj" fmla="val 202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s/cal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32461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pandas, numpy, scipy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(AR, VAR, ARDL)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(k-NN, SVR, ANN, scaling)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for hyperparameter CV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321040" y="1828800"/>
            <a:ext cx="3611880" cy="3657600"/>
          </a:xfrm>
          <a:prstGeom prst="rect">
            <a:avLst>
              <a:gd name="adj" fmla="val 202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3" name="Image 2" descr="icons/projec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2743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&amp; Notebook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95360" y="324612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replication notebook: models.ipynb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GitHub repository link here ]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descriptive stats, all 7 model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fits, and RMSE evaluation by horizon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ECO723 · Inflation Forecasting Replication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457200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REFERENCES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Source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371600"/>
          </a:xfrm>
          <a:prstGeom prst="rect">
            <a:avLst>
              <a:gd name="adj" fmla="val 466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Ülke, V., Sahin, A., &amp; Subasi, A. (2018).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time series and machine learning models for inflation forecasting: empirical evidence from the USA.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Computing and Applications, 30(5), 1519–1527. https://doi.org/10.1007/s00521-016-2766-x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Works Cited Within the Original Paper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Atkeson, A., &amp; Ohanian, L. E. (2001). Are Phillips curves useful for forecasting inflation? Fed. Reserve Bank Minneap. Q. Rev., 25(2).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27024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Manzan, S., &amp; Zerom, D. (2013). Are macroeconomic variables useful for forecasting the distribution of U.S. inflation? Int. J. Forecast., 29(3), 469–478.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65429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J. H., &amp; Watson, M. W. (2007). Why has U.S. inflation become harder to forecast? J. Money Credit Bank., 39, 3–33.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03834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Pesaran, M. H., Shin, Y., &amp; Smith, R. J. (2001). Bounds testing approaches to the analysis of level relationships. J. Appl. Econom., 16(3), 289–326.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4223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Sims, C. A. (1980). Macroeconomics and reality. Econometrica, 48(1), 1–48.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Replication: Time Series vs ML Models for Inflation Forecasting</dc:title>
  <dc:subject>PptxGenJS Presentation</dc:subject>
  <dc:creator>Kartik</dc:creator>
  <cp:lastModifiedBy>Kartik</cp:lastModifiedBy>
  <cp:revision>1</cp:revision>
  <dcterms:created xsi:type="dcterms:W3CDTF">2026-06-29T09:33:37Z</dcterms:created>
  <dcterms:modified xsi:type="dcterms:W3CDTF">2026-06-29T09:33:37Z</dcterms:modified>
</cp:coreProperties>
</file>